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 2026 Winter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競馬AIの歴史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なぜ私は競馬AIをやめたのか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8000" y="44348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8000" y="4617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井上 大貴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0" y="44348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2026.01.20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4617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4572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TALK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8000" y="736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前回のあらすじ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03120" y="1346200"/>
            <a:ext cx="1463040" cy="77724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03120" y="1483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5万円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103120" y="18034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軍資金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66160" y="1574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0" y="1346200"/>
            <a:ext cx="1463040" cy="777240"/>
          </a:xfrm>
          <a:prstGeom prst="roundRect">
            <a:avLst/>
          </a:prstGeom>
          <a:solidFill>
            <a:srgbClr val="1A2F2D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483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+150万円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0" y="18034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最高到達点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1574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26480" y="1346200"/>
            <a:ext cx="1463040" cy="777240"/>
          </a:xfrm>
          <a:prstGeom prst="roundRect">
            <a:avLst/>
          </a:prstGeom>
          <a:solidFill>
            <a:srgbClr val="2D1A1F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483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126480" y="18034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結末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0" y="22606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敗因は2つあった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8000" y="2580640"/>
            <a:ext cx="3840480" cy="777240"/>
          </a:xfrm>
          <a:prstGeom prst="roundRect">
            <a:avLst/>
          </a:prstGeom>
          <a:solidFill>
            <a:srgbClr val="1A2F2D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160" y="26903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期待値が取れなくなった（技術的要因）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5160" y="29646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オッズの変動、競合の増加、資金力の壁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51680" y="2580640"/>
            <a:ext cx="3840480" cy="77724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8840" y="26903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人間の愚かさ（人的要因）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88840" y="29646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裁量介入の失敗、感情によるブレ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71600" y="3540760"/>
            <a:ext cx="6400800" cy="502920"/>
          </a:xfrm>
          <a:prstGeom prst="roundRect">
            <a:avLst/>
          </a:prstGeom>
          <a:solidFill>
            <a:srgbClr val="1A2F2D"/>
          </a:solidFill>
          <a:ln w="12700">
            <a:solidFill>
              <a:srgbClr val="3D5C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35407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今日は①の構造を深掘りします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4572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8000" y="736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期待値の構造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1280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期待値 = 確率 × オッズ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3474720" cy="100584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機械学習等で算出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（強力なモデルを作れる人が有利）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2011680"/>
            <a:ext cx="3474720" cy="100584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オッズ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2514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全員の投票で決まる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（変動する）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8046720" cy="1188720"/>
          </a:xfrm>
          <a:prstGeom prst="roundRect">
            <a:avLst/>
          </a:prstGeom>
          <a:solidFill>
            <a:srgbClr val="1A2F2D"/>
          </a:solidFill>
          <a:ln w="12700">
            <a:solidFill>
              <a:srgbClr val="3D5C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37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「歪み」を取る = 期待値 &gt; 1 を狙う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703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AIが「勝率15%」と計算、オッズ10倍（市場は10%と見てる）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15% × 10倍 = 150%（期待値 &gt; 1）→ 理論上勝てる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4572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8000" y="736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オッズの構造 — パリミュチュエル方式</a:t>
            </a:r>
            <a:endParaRPr lang="en-US" sz="2800" dirty="0"/>
          </a:p>
        </p:txBody>
      </p:sp>
      <p:pic>
        <p:nvPicPr>
          <p:cNvPr id="4" name="Image 0" descr="/home/inoue-d/dev/my-samples/presentations/20260120_lt/slides/images/pari-mutuel-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84124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4572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800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競馬AI黎明期（〜2016年頃）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8000" y="12192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1995年「馬王」登場（荒井俊也氏）— 統計的競馬予測の先駆け</a:t>
            </a:r>
            <a:endParaRPr lang="en-US" sz="1100" dirty="0"/>
          </a:p>
        </p:txBody>
      </p:sp>
      <p:pic>
        <p:nvPicPr>
          <p:cNvPr id="5" name="Image 0" descr="/home/inoue-d/dev/my-samples/presentations/20260120_lt/slides/images/baou-boo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57200"/>
            <a:ext cx="146304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0" y="2148840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出典: Amazon / baoland.com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508000" y="2286000"/>
            <a:ext cx="3962400" cy="64008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8000" y="2359152"/>
            <a:ext cx="396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キーワード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8000" y="2578608"/>
            <a:ext cx="396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データ格差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73600" y="2286000"/>
            <a:ext cx="3962400" cy="64008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73600" y="2359152"/>
            <a:ext cx="396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2013年 話題になった事件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673600" y="2578608"/>
            <a:ext cx="396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データ分析で1.4億円稼いだ人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8000" y="31089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09168" y="3108960"/>
            <a:ext cx="812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当時はデータが高価 → 持っている人だけが勝てた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8000" y="342900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09168" y="3429000"/>
            <a:ext cx="812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参入者が少ない → オッズ変動も小さい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8000" y="4160520"/>
            <a:ext cx="8128000" cy="502920"/>
          </a:xfrm>
          <a:prstGeom prst="roundRect">
            <a:avLst/>
          </a:prstGeom>
          <a:solidFill>
            <a:srgbClr val="1A2F2D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8000" y="4160520"/>
            <a:ext cx="812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「データを持っている者が勝つ」時代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457200"/>
            <a:ext cx="5537200" cy="12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8000" y="711200"/>
            <a:ext cx="55372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Mamba登場（2018年〜）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8000" y="1143000"/>
            <a:ext cx="55372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ドワンゴのエンジニアチームが開発</a:t>
            </a:r>
            <a:endParaRPr lang="en-US" sz="1200" dirty="0"/>
          </a:p>
        </p:txBody>
      </p:sp>
      <p:pic>
        <p:nvPicPr>
          <p:cNvPr id="5" name="Image 0" descr="/home/inoue-d/dev/my-samples/presentations/20260120_lt/slides/images/mamba-illu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1625600"/>
            <a:ext cx="2286000" cy="279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50000" y="4470400"/>
            <a:ext cx="2286000" cy="12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出典: mamba.jinkochinobokin.nicovideo.jp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08000" y="1498600"/>
            <a:ext cx="55372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+730万円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08000" y="2159000"/>
            <a:ext cx="5537200" cy="139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ニコ生企画 3ヶ月の成果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8000" y="2501900"/>
            <a:ext cx="203200" cy="237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11200" y="2501900"/>
            <a:ext cx="5334000" cy="237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機械学習で約3,000の特徴量を使用（手法は非公開）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8000" y="2739390"/>
            <a:ext cx="203200" cy="237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1200" y="2739390"/>
            <a:ext cx="5334000" cy="237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メディアで話題に →「AIで競馬に勝てる」という夢が広まる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8000" y="2976880"/>
            <a:ext cx="203200" cy="237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1200" y="2976880"/>
            <a:ext cx="5334000" cy="237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ここから松風、AlphaImpactなど派生プロジェクトが誕生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8000" y="4279900"/>
            <a:ext cx="5537200" cy="406400"/>
          </a:xfrm>
          <a:prstGeom prst="roundRect">
            <a:avLst/>
          </a:prstGeom>
          <a:solidFill>
            <a:srgbClr val="2D2A1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8000" y="4279900"/>
            <a:ext cx="553720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競馬AIブームの火付け役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4572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8000" y="6858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松風の衝撃（2017年〜）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8000" y="11938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毎レース締切直前に買い目を無料公開（2017年〜2020年8月に公開終了）</a:t>
            </a:r>
            <a:endParaRPr lang="en-US" sz="1100" dirty="0"/>
          </a:p>
        </p:txBody>
      </p:sp>
      <p:pic>
        <p:nvPicPr>
          <p:cNvPr id="5" name="Image 0" descr="/home/inoue-d/dev/my-samples/presentations/20260120_lt/slides/images/matsukaze-ic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0" y="141732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出典: X (@matsukaze_f)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508000" y="1645920"/>
            <a:ext cx="3474720" cy="68580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8000" y="171907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2019年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8000" y="19385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+1,739万円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185920" y="1645920"/>
            <a:ext cx="3474720" cy="68580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85920" y="171907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2020年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85920" y="19385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+2億円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08000" y="2484120"/>
            <a:ext cx="7589520" cy="640080"/>
          </a:xfrm>
          <a:prstGeom prst="roundRect">
            <a:avLst/>
          </a:prstGeom>
          <a:solidFill>
            <a:srgbClr val="1A2F2D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8000" y="255727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2020年10月〜12月（3ヶ月間）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8000" y="277672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購入 17.5億円 → 払戻 20.8億円 → 収支 +3.3億円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8000" y="326136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09168" y="326136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Mambaから派生、個人開発者がここまでスケール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8000" y="3553968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09168" y="355396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2020年8月に買い目公開を終了 → 自分専用に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97280" y="4251960"/>
            <a:ext cx="6400800" cy="457200"/>
          </a:xfrm>
          <a:prstGeom prst="roundRect">
            <a:avLst/>
          </a:prstGeom>
          <a:solidFill>
            <a:srgbClr val="2D2A1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97280" y="4251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「先行者利益で札束勢になった」象徴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4572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8000" y="6858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競馬AIゆまの終焉（2022年）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8000" y="11938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AIが算出した勝率を無料公開するサービス（2018年〜2022年）</a:t>
            </a:r>
            <a:endParaRPr lang="en-US" sz="1100" dirty="0"/>
          </a:p>
        </p:txBody>
      </p:sp>
      <p:pic>
        <p:nvPicPr>
          <p:cNvPr id="5" name="Image 0" descr="/home/inoue-d/dev/my-samples/presentations/20260120_lt/slides/images/yuma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0" y="141732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出典: はてなブログ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508000" y="1645920"/>
            <a:ext cx="3474720" cy="68580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8000" y="171907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通算57,000レース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8000" y="19385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回収率 約111%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185920" y="1645920"/>
            <a:ext cx="3474720" cy="68580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85920" y="171907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4年間の運営実績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85920" y="19385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5000万PV / 5万フォロワー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8000" y="2484120"/>
            <a:ext cx="7589520" cy="685800"/>
          </a:xfrm>
          <a:prstGeom prst="roundRect">
            <a:avLst/>
          </a:prstGeom>
          <a:solidFill>
            <a:srgbClr val="2D1A1F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8000" y="25755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2022年8月にサービス終了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08000" y="2868168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終了理由:「利用者増加によるオッズ低下」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8000" y="335280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09168" y="3352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「勝てない予想を提供したくない」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8000" y="3645408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09168" y="364540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確率を公開すること自体が自滅につながる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4572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8000" y="736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なぜ今から参入しても勝てないのか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8000" y="12344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660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参入者増加 → 同じ買い目に殺到 → オッズ急落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8000" y="16002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660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計算時点と締切時点でオッズがズレる → 期待値が取れない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8000" y="1965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660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資金力があれば高精度なモデル開発 &amp; 投票後のオッズ変動も予測可能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8000" y="2331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660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札束勢は有利、後発組は不利という構造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7680960" cy="640080"/>
          </a:xfrm>
          <a:prstGeom prst="roundRect">
            <a:avLst/>
          </a:prstGeom>
          <a:solidFill>
            <a:srgbClr val="2D1A1F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803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今から普通に参入しても、オッズ変動を予測できず期待値が取れない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0" y="3749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競馬AIゆまも「公開したら勝てなくなる」と判断した世界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4572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8000" y="736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1097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期待値 = 確率 × オッズ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840480" cy="868680"/>
          </a:xfrm>
          <a:prstGeom prst="roundRect">
            <a:avLst/>
          </a:prstGeom>
          <a:solidFill>
            <a:srgbClr val="1A2F2D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013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資金力があれば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高精度なモデルを開発できる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691640"/>
            <a:ext cx="3840480" cy="868680"/>
          </a:xfrm>
          <a:prstGeom prst="roundRect">
            <a:avLst/>
          </a:prstGeom>
          <a:solidFill>
            <a:srgbClr val="1A2F2D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8013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オッズ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2103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資金力があれば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投票後の変動を予測できる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88720" y="2743200"/>
            <a:ext cx="1645920" cy="41148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743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データ格差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0360" y="2743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83280" y="2743200"/>
            <a:ext cx="1645920" cy="41148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743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技術格差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2743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77840" y="2743200"/>
            <a:ext cx="1645920" cy="411480"/>
          </a:xfrm>
          <a:prstGeom prst="roundRect">
            <a:avLst/>
          </a:prstGeom>
          <a:solidFill>
            <a:srgbClr val="2D1A1F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2743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資金力格差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0" y="3337560"/>
            <a:ext cx="6400800" cy="502920"/>
          </a:xfrm>
          <a:prstGeom prst="roundRect">
            <a:avLst/>
          </a:prstGeom>
          <a:solidFill>
            <a:srgbClr val="2D1A1F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33375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今から普通に参入しても勝てない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0" y="4434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ギャンブルは無理のない範囲で楽しみましょう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競馬AIの歴史</dc:title>
  <dc:subject>PptxGenJS Presentation</dc:subject>
  <dc:creator>井上 大貴</dc:creator>
  <cp:lastModifiedBy>井上 大貴</cp:lastModifiedBy>
  <cp:revision>1</cp:revision>
  <dcterms:created xsi:type="dcterms:W3CDTF">2026-01-19T08:20:55Z</dcterms:created>
  <dcterms:modified xsi:type="dcterms:W3CDTF">2026-01-19T08:20:55Z</dcterms:modified>
</cp:coreProperties>
</file>