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71454" y="1351062"/>
            <a:ext cx="16329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11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 2026 WINTER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706624" y="1757363"/>
            <a:ext cx="3730752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競馬AIの歴史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483167" y="2786063"/>
            <a:ext cx="417766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0"/>
              </a:spcAft>
              <a:buNone/>
            </a:pPr>
            <a:r>
              <a:rPr lang="en-US" sz="2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なぜ今から参入しても勝てないのか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7950" y="4432697"/>
            <a:ext cx="763122" cy="20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7950" y="4635698"/>
            <a:ext cx="763122" cy="20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井上 大貴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87844" y="4432697"/>
            <a:ext cx="648206" cy="20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2026.01.20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987844" y="4635698"/>
            <a:ext cx="648206" cy="20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社内LT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TALK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955625"/>
            <a:ext cx="8290661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前回のあらすじ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779091" y="1917650"/>
            <a:ext cx="1305967" cy="1063377"/>
          </a:xfrm>
          <a:prstGeom prst="roundRect">
            <a:avLst>
              <a:gd name="adj" fmla="val 9554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034726" y="2104876"/>
            <a:ext cx="79469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5万円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034726" y="2593777"/>
            <a:ext cx="7946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軍資金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85058" y="2301627"/>
            <a:ext cx="673406" cy="295275"/>
          </a:xfrm>
          <a:prstGeom prst="rect">
            <a:avLst/>
          </a:prstGeom>
          <a:noFill/>
          <a:ln/>
        </p:spPr>
        <p:txBody>
          <a:bodyPr wrap="square" lIns="203200" tIns="0" rIns="20320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745260" y="1917650"/>
            <a:ext cx="1822996" cy="1063377"/>
          </a:xfrm>
          <a:prstGeom prst="roundRect">
            <a:avLst>
              <a:gd name="adj" fmla="val 9554"/>
            </a:avLst>
          </a:prstGeom>
          <a:solidFill>
            <a:srgbClr val="4ECDC4">
              <a:alpha val="10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95724" y="2104876"/>
            <a:ext cx="132206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+150万円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995724" y="2593777"/>
            <a:ext cx="13220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最高到達点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68255" y="2301627"/>
            <a:ext cx="673406" cy="295275"/>
          </a:xfrm>
          <a:prstGeom prst="rect">
            <a:avLst/>
          </a:prstGeom>
          <a:noFill/>
          <a:ln/>
        </p:spPr>
        <p:txBody>
          <a:bodyPr wrap="square" lIns="203200" tIns="0" rIns="20320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228457" y="1917650"/>
            <a:ext cx="1136452" cy="1063377"/>
          </a:xfrm>
          <a:prstGeom prst="roundRect">
            <a:avLst>
              <a:gd name="adj" fmla="val 9554"/>
            </a:avLst>
          </a:prstGeom>
          <a:solidFill>
            <a:srgbClr val="DC143C">
              <a:alpha val="10000"/>
            </a:srgbClr>
          </a:solidFill>
          <a:ln w="9525">
            <a:solidFill>
              <a:srgbClr val="DC14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85787" y="2104876"/>
            <a:ext cx="62179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全損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85787" y="2593777"/>
            <a:ext cx="6217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結末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6669" y="3362027"/>
            <a:ext cx="829066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敗因: オッズが下がって期待値が取れなくなった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950" y="3924002"/>
            <a:ext cx="8128099" cy="720626"/>
          </a:xfrm>
          <a:prstGeom prst="roundRect">
            <a:avLst>
              <a:gd name="adj" fmla="val 14099"/>
            </a:avLst>
          </a:prstGeom>
          <a:solidFill>
            <a:srgbClr val="4ECDC4">
              <a:alpha val="5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7281" y="4136678"/>
            <a:ext cx="764943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「なぜそうなったのか？」今日はその構造を話します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701576"/>
            <a:ext cx="829066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期待値の構造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1355527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オッズの決まり方（パリミュチュエル方式）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1606302"/>
            <a:ext cx="829066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JRA: 「馬券の売上総額から控除率（約25%）を引いた額を的中者で分配」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1954262"/>
            <a:ext cx="8128099" cy="673001"/>
          </a:xfrm>
          <a:prstGeom prst="roundRect">
            <a:avLst>
              <a:gd name="adj" fmla="val 15097"/>
            </a:avLst>
          </a:prstGeom>
          <a:solidFill>
            <a:srgbClr val="4ECDC4">
              <a:alpha val="5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95364" y="2090738"/>
            <a:ext cx="775327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期待値 = 確率 × オッズ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7950" y="2779663"/>
            <a:ext cx="3975199" cy="730151"/>
          </a:xfrm>
          <a:prstGeom prst="roundRect">
            <a:avLst>
              <a:gd name="adj" fmla="val 13915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95176" y="2916138"/>
            <a:ext cx="367276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5176" y="3192363"/>
            <a:ext cx="36727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機械学習で計算できる（技術で解決可能）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0850" y="2779663"/>
            <a:ext cx="3975199" cy="730151"/>
          </a:xfrm>
          <a:prstGeom prst="roundRect">
            <a:avLst>
              <a:gd name="adj" fmla="val 13915"/>
            </a:avLst>
          </a:prstGeom>
          <a:solidFill>
            <a:srgbClr val="DC143C">
              <a:alpha val="10000"/>
            </a:srgbClr>
          </a:solidFill>
          <a:ln w="9525">
            <a:solidFill>
              <a:srgbClr val="DC14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48076" y="2916138"/>
            <a:ext cx="367276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オッズ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8076" y="3192363"/>
            <a:ext cx="36727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全員の投票で決まる → 変動する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7950" y="3662214"/>
            <a:ext cx="82906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例: AIが勝率15%と計算、オッズ10倍 → 期待値 150%（これが「歪み」）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7950" y="3970139"/>
            <a:ext cx="8128099" cy="450652"/>
          </a:xfrm>
          <a:prstGeom prst="roundRect">
            <a:avLst>
              <a:gd name="adj" fmla="val 22545"/>
            </a:avLst>
          </a:prstGeom>
          <a:solidFill>
            <a:srgbClr val="DC143C">
              <a:alpha val="10000"/>
            </a:srgbClr>
          </a:solidFill>
          <a:ln w="9525">
            <a:solidFill>
              <a:srgbClr val="DC14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3598" y="4081165"/>
            <a:ext cx="7856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問題: 歪みは消える（オッズが変動するから）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5388" y="4522291"/>
            <a:ext cx="82906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800"/>
              </a:spcBef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出典: JRA公式サイト jra.go.jp/kouza/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803225"/>
            <a:ext cx="829066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競馬AI黎明期（〜2016年頃）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751362" y="1584275"/>
            <a:ext cx="1641277" cy="882402"/>
          </a:xfrm>
          <a:prstGeom prst="roundRect">
            <a:avLst>
              <a:gd name="adj" fmla="val 11514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03643" y="1771501"/>
            <a:ext cx="113671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データ格差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003643" y="2098477"/>
            <a:ext cx="11367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情報を持つ者が勝つ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2771477"/>
            <a:ext cx="8128099" cy="841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10"/>
              </a:lnSpc>
              <a:buSzPct val="100000"/>
              <a:buChar char="•"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1995年「馬王」登場（荒井俊也氏）— 統計的競馬予測の先駆け</a:t>
            </a:r>
            <a:endParaRPr lang="en-US" sz="1300" dirty="0"/>
          </a:p>
          <a:p>
            <a:pPr algn="l" marL="342900" indent="-342900">
              <a:lnSpc>
                <a:spcPts val="2210"/>
              </a:lnSpc>
              <a:buSzPct val="100000"/>
              <a:buChar char="•"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データ入手が困難 → 情報格差で勝てた</a:t>
            </a:r>
            <a:endParaRPr lang="en-US" sz="1300" dirty="0"/>
          </a:p>
          <a:p>
            <a:pPr algn="l" marL="342900" indent="-342900">
              <a:lnSpc>
                <a:spcPts val="2210"/>
              </a:lnSpc>
              <a:buSzPct val="100000"/>
              <a:buChar char="•"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参入者が少ない → オッズ変動も小さい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3867001"/>
            <a:ext cx="8128099" cy="581025"/>
          </a:xfrm>
          <a:prstGeom prst="roundRect">
            <a:avLst>
              <a:gd name="adj" fmla="val 17486"/>
            </a:avLst>
          </a:prstGeom>
          <a:solidFill>
            <a:srgbClr val="4ECDC4">
              <a:alpha val="5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95364" y="4028926"/>
            <a:ext cx="775327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「データを持っている者が勝つ」時代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5388" y="4448026"/>
            <a:ext cx="82906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参考: 馬王 baoland.com — 2013年大阪税務訴訟（14億円利益）で話題に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777776"/>
            <a:ext cx="829066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Mamba登場（2017年〜）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1330226"/>
            <a:ext cx="82906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ドワンゴのエンジニアチームが開発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26669" y="1761976"/>
            <a:ext cx="8290661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+800万円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26669" y="2850952"/>
            <a:ext cx="82906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ニコ生企画 3ヶ月の成果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3282702"/>
            <a:ext cx="8128099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040"/>
              </a:lnSpc>
              <a:buSzPct val="100000"/>
              <a:buChar char="•"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メディアで話題に →「AIで競馬に勝てる」という夢が広まる</a:t>
            </a:r>
            <a:endParaRPr lang="en-US" sz="1200" dirty="0"/>
          </a:p>
          <a:p>
            <a:pPr algn="l" marL="342900" indent="-342900">
              <a:lnSpc>
                <a:spcPts val="2040"/>
              </a:lnSpc>
              <a:buSzPct val="100000"/>
              <a:buChar char="•"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ここから松風、AlphaImpactなど派生プロジェクトが誕生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7950" y="3978325"/>
            <a:ext cx="8128099" cy="511076"/>
          </a:xfrm>
          <a:prstGeom prst="roundRect">
            <a:avLst>
              <a:gd name="adj" fmla="val 19880"/>
            </a:avLst>
          </a:prstGeom>
          <a:solidFill>
            <a:srgbClr val="FFD700">
              <a:alpha val="5000"/>
            </a:srgbClr>
          </a:solidFill>
          <a:ln w="9525">
            <a:solidFill>
              <a:srgbClr val="FFD7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95364" y="4114800"/>
            <a:ext cx="7753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競馬AIブームの火付け役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727025"/>
            <a:ext cx="829066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松風の衝撃（2017年〜）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1279475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Mambaから派生 / 個人開発者がここまでスケール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1631900"/>
            <a:ext cx="3975199" cy="806351"/>
          </a:xfrm>
          <a:prstGeom prst="roundRect">
            <a:avLst>
              <a:gd name="adj" fmla="val 12600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59169" y="1768376"/>
            <a:ext cx="36727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2019年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9169" y="1968401"/>
            <a:ext cx="367276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+1,739万円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60850" y="1631900"/>
            <a:ext cx="3975199" cy="806351"/>
          </a:xfrm>
          <a:prstGeom prst="roundRect">
            <a:avLst>
              <a:gd name="adj" fmla="val 12600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12069" y="1768376"/>
            <a:ext cx="36727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2020年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12069" y="1968401"/>
            <a:ext cx="367276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+2億円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7950" y="2565202"/>
            <a:ext cx="8128099" cy="749201"/>
          </a:xfrm>
          <a:prstGeom prst="roundRect">
            <a:avLst>
              <a:gd name="adj" fmla="val 13561"/>
            </a:avLst>
          </a:prstGeom>
          <a:solidFill>
            <a:srgbClr val="4ECDC4">
              <a:alpha val="5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9557" y="2701677"/>
            <a:ext cx="78048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2020年10月〜12月（3ヶ月間）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69557" y="2920752"/>
            <a:ext cx="780488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購入 17.5億円 → 払戻 20.8億円 → 収支 +3.3億円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7950" y="3441353"/>
            <a:ext cx="812809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760"/>
              </a:lnSpc>
              <a:buSzPct val="100000"/>
              <a:buChar char="•"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2020年8月に買い目の公開を終了（自分で使うため非公開化）</a:t>
            </a:r>
            <a:endParaRPr lang="en-US" sz="1100" dirty="0"/>
          </a:p>
          <a:p>
            <a:pPr algn="l" marL="342900" indent="-342900">
              <a:lnSpc>
                <a:spcPts val="1760"/>
              </a:lnSpc>
              <a:buSzPct val="100000"/>
              <a:buChar char="•"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個人でもこの規模になるとオッズを動かせる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950" y="3989933"/>
            <a:ext cx="8128099" cy="450652"/>
          </a:xfrm>
          <a:prstGeom prst="roundRect">
            <a:avLst>
              <a:gd name="adj" fmla="val 22545"/>
            </a:avLst>
          </a:prstGeom>
          <a:solidFill>
            <a:srgbClr val="FFD700">
              <a:alpha val="5000"/>
            </a:srgbClr>
          </a:solidFill>
          <a:ln w="9525">
            <a:solidFill>
              <a:srgbClr val="FFD7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3598" y="4100959"/>
            <a:ext cx="7856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「先行者利益で札束勢になった」象徴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727025"/>
            <a:ext cx="829066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競馬AIゆまの終焉（2022年）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1279475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2018年登場 / 5000万アクセス・5万フォロワーの人気サービス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1606451"/>
            <a:ext cx="2624733" cy="660202"/>
          </a:xfrm>
          <a:prstGeom prst="roundRect">
            <a:avLst>
              <a:gd name="adj" fmla="val 15389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6867" y="1717477"/>
            <a:ext cx="23469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地方競馬（48,020レース）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6867" y="1898452"/>
            <a:ext cx="2346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回収率 113.7%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59634" y="1606451"/>
            <a:ext cx="2624733" cy="660202"/>
          </a:xfrm>
          <a:prstGeom prst="roundRect">
            <a:avLst>
              <a:gd name="adj" fmla="val 15389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98550" y="1717477"/>
            <a:ext cx="23469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JRA（9,678レース）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98550" y="1898452"/>
            <a:ext cx="2346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回収率 107.5%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11317" y="1606451"/>
            <a:ext cx="2624733" cy="660202"/>
          </a:xfrm>
          <a:prstGeom prst="roundRect">
            <a:avLst>
              <a:gd name="adj" fmla="val 15389"/>
            </a:avLst>
          </a:prstGeom>
          <a:solidFill>
            <a:srgbClr val="4ECDC4">
              <a:alpha val="10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50233" y="1717477"/>
            <a:ext cx="23469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累計利益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50233" y="1898452"/>
            <a:ext cx="2346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約350万円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7950" y="2368153"/>
            <a:ext cx="8128099" cy="806351"/>
          </a:xfrm>
          <a:prstGeom prst="roundRect">
            <a:avLst>
              <a:gd name="adj" fmla="val 12600"/>
            </a:avLst>
          </a:prstGeom>
          <a:solidFill>
            <a:srgbClr val="DC143C">
              <a:alpha val="10000"/>
            </a:srgbClr>
          </a:solidFill>
          <a:ln w="9525">
            <a:solidFill>
              <a:srgbClr val="DC14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9557" y="2504629"/>
            <a:ext cx="780488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2022年8月にサービス終了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9557" y="2838004"/>
            <a:ext cx="78048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終了理由:「利用者増加によるオッズ低下」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950" y="3276005"/>
            <a:ext cx="812809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760"/>
              </a:lnSpc>
              <a:buSzPct val="100000"/>
              <a:buChar char="•"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「勝てない予想を提供したくない」</a:t>
            </a:r>
            <a:endParaRPr lang="en-US" sz="1100" dirty="0"/>
          </a:p>
          <a:p>
            <a:pPr algn="l" marL="342900" indent="-342900">
              <a:lnSpc>
                <a:spcPts val="1760"/>
              </a:lnSpc>
              <a:buSzPct val="100000"/>
              <a:buChar char="•"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予想を公開すること自体が自滅につながる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950" y="3824585"/>
            <a:ext cx="8128099" cy="450652"/>
          </a:xfrm>
          <a:prstGeom prst="roundRect">
            <a:avLst>
              <a:gd name="adj" fmla="val 22545"/>
            </a:avLst>
          </a:prstGeom>
          <a:solidFill>
            <a:srgbClr val="FFD700">
              <a:alpha val="5000"/>
            </a:srgbClr>
          </a:solidFill>
          <a:ln w="9525">
            <a:solidFill>
              <a:srgbClr val="FFD7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598" y="3935611"/>
            <a:ext cx="7856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Key Messageの完璧な証明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803225"/>
            <a:ext cx="829066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なぜ今から参入しても勝てないのか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1584275"/>
            <a:ext cx="8128099" cy="960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20"/>
              </a:lnSpc>
              <a:buSzPct val="100000"/>
              <a:buChar char="•"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参入者増加 → 同じ買い目に殺到 → オッズ急落</a:t>
            </a:r>
            <a:endParaRPr lang="en-US" sz="1400" dirty="0"/>
          </a:p>
          <a:p>
            <a:pPr algn="l" marL="342900" indent="-342900">
              <a:lnSpc>
                <a:spcPts val="2520"/>
              </a:lnSpc>
              <a:buSzPct val="100000"/>
              <a:buChar char="•"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先行者（松風など）→ 資金力でオッズを動かせる側に</a:t>
            </a:r>
            <a:endParaRPr lang="en-US" sz="1400" dirty="0"/>
          </a:p>
          <a:p>
            <a:pPr algn="l" marL="342900" indent="-342900">
              <a:lnSpc>
                <a:spcPts val="2520"/>
              </a:lnSpc>
              <a:buSzPct val="100000"/>
              <a:buChar char="•"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計算時点と購入時点でオッズがズレる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7950" y="2849463"/>
            <a:ext cx="8128099" cy="650677"/>
          </a:xfrm>
          <a:prstGeom prst="roundRect">
            <a:avLst>
              <a:gd name="adj" fmla="val 15615"/>
            </a:avLst>
          </a:prstGeom>
          <a:solidFill>
            <a:srgbClr val="DC143C">
              <a:alpha val="10000"/>
            </a:srgbClr>
          </a:solidFill>
          <a:ln w="9525">
            <a:solidFill>
              <a:srgbClr val="DC14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7281" y="3036689"/>
            <a:ext cx="764943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今から普通に参入しても、オッズ変動を予測できず期待値が取れない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6669" y="3703290"/>
            <a:ext cx="82906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競馬AIゆまも「公開したら勝てなくなる」と判断した世界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59746" y="361504"/>
            <a:ext cx="8409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86200" y="656779"/>
            <a:ext cx="1399032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まとめ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13012" y="1628329"/>
            <a:ext cx="5717977" cy="1461641"/>
          </a:xfrm>
          <a:prstGeom prst="roundRect">
            <a:avLst>
              <a:gd name="adj" fmla="val 6951"/>
            </a:avLst>
          </a:prstGeom>
          <a:solidFill>
            <a:srgbClr val="4ECDC4">
              <a:alpha val="5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079974" y="1841004"/>
            <a:ext cx="4984052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期待値 = 確率 × オッズ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079974" y="2308175"/>
            <a:ext cx="498405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確率は計算できるが、オッズは先行者の資金力で動かされる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79974" y="2592735"/>
            <a:ext cx="498405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今から普通に参入しても勝てない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59223" y="3394770"/>
            <a:ext cx="1187351" cy="501551"/>
          </a:xfrm>
          <a:prstGeom prst="roundRect">
            <a:avLst>
              <a:gd name="adj" fmla="val 15193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564279" y="3531245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データ格差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46574" y="3526482"/>
            <a:ext cx="518109" cy="238125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54525" y="3394770"/>
            <a:ext cx="1034951" cy="501551"/>
          </a:xfrm>
          <a:prstGeom prst="roundRect">
            <a:avLst>
              <a:gd name="adj" fmla="val 15193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261104" y="353124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技術格差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89475" y="3526482"/>
            <a:ext cx="518109" cy="238125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97426" y="3394770"/>
            <a:ext cx="1187351" cy="501551"/>
          </a:xfrm>
          <a:prstGeom prst="roundRect">
            <a:avLst>
              <a:gd name="adj" fmla="val 15193"/>
            </a:avLst>
          </a:prstGeom>
          <a:solidFill>
            <a:srgbClr val="DC143C">
              <a:alpha val="10000"/>
            </a:srgbClr>
          </a:solidFill>
          <a:ln w="9525">
            <a:solidFill>
              <a:srgbClr val="DC14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02481" y="3531245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資金力格差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62200" y="4201120"/>
            <a:ext cx="4419600" cy="581025"/>
          </a:xfrm>
          <a:prstGeom prst="roundRect">
            <a:avLst>
              <a:gd name="adj" fmla="val 17486"/>
            </a:avLst>
          </a:prstGeom>
          <a:solidFill>
            <a:srgbClr val="FFD700">
              <a:alpha val="5000"/>
            </a:srgbClr>
          </a:solidFill>
          <a:ln w="9525">
            <a:solidFill>
              <a:srgbClr val="FFD7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638616" y="4363045"/>
            <a:ext cx="386676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ギャンブルは無理のない範囲で楽しみましょう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Product Div. AT Dept.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競馬AIの歴史 〜なぜ今から参入しても勝てないのか〜</dc:title>
  <dc:subject>ALT 2026 Winter</dc:subject>
  <dc:creator>井上 大貴</dc:creator>
  <cp:lastModifiedBy>井上 大貴</cp:lastModifiedBy>
  <cp:revision>1</cp:revision>
  <dcterms:created xsi:type="dcterms:W3CDTF">2026-01-19T06:02:16Z</dcterms:created>
  <dcterms:modified xsi:type="dcterms:W3CDTF">2026-01-19T06:02:16Z</dcterms:modified>
</cp:coreProperties>
</file>